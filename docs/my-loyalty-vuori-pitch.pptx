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7CCD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C7CCD3"/>
                </a:solidFill>
                <a:latin typeface="Calibri"/>
              </a:rPr>
              <a:t>Illustrative incremental-revenue shape (indexed, not Vuori actuals)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member revenue (indexed)</c:v>
                </c:pt>
              </c:strCache>
            </c:strRef>
          </c:tx>
          <c:spPr>
            <a:solidFill>
              <a:srgbClr val="F26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0.9</c:v>
                </c:pt>
                <c:pt idx="2">
                  <c:v>1.35</c:v>
                </c:pt>
                <c:pt idx="3">
                  <c:v>1.7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CCD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D0F"/>
        </a:solidFill>
        <a:ln>
          <a:noFill/>
        </a:ln>
        <a:effectLst/>
      </c:spPr>
    </c:plotArea>
    <c:plotVisOnly val="1"/>
    <c:dispBlanksAs val="span"/>
  </c:chart>
  <c:spPr>
    <a:solidFill>
      <a:srgbClr val="0B0D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Customer-facing pitch: My Loyalty proposing an end-to-end omnichannel loyalty program for Vuori's DTC-to-retail transition. First meeting: lead with the architecture window, not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Vuori: $825M raise at $5.5B valuation, expanding toward 100+ stores, no incumbent loyalty program. The transition itself is the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waiting: unattributed store transactions, fragmented customer identity, compounding un-captured LTV. Illustrative visual, not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framing: single ledger, premium program design, store-performance features, greenfield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/ Deploy / Run. Full-service: strategy, enterprise engine, integrations, portal/app, campaigns, support. One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single ledger at center; surfaces = in-store POS, member portal/app, online; foundations = enterprise engine, optional card-linked earning,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concept: 3 tiers (Member/Ascent/Summit), experiential top tier. Explicitly placeholder — real design happens in scoping.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model: frequency, AOV, attribution, retention. Chart is explicitly illustrative/indexed. Scoping call validates inputs with Vuori's actuals.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us: 11+ yrs / 200+ systems (founder track record), enterprise engines white-labeled, dedicated team incl. contractors, single accountable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phases: scoping (2-3wk), design (4-6wk), build (8-12wk), pilot &amp; scale. Hook: decide this year, live before next store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ask for the scoping workshop, not the sale. Blueprint is theirs regardless. Fill in contact details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6191D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2377440"/>
            <a:ext cx="6583680" cy="6583680"/>
          </a:xfrm>
          <a:prstGeom prst="ellipse">
            <a:avLst/>
          </a:prstGeom>
          <a:solidFill>
            <a:srgbClr val="16191D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E242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685800"/>
            <a:ext cx="546811" cy="54681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795162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8059" y="685800"/>
            <a:ext cx="273405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5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955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955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moment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Vuori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going from digital-first to 100+ stores.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loyalty program, designed and run end-to-end — one member ledger across every store, the site, and the app.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6428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Vuori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DTC-to-retail seam is where loyalty gets decided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$5.5B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2296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after an $825M growth round — the retail build-out is funded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61772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targeted, up from a digital-first base — each one a new front door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412480" y="3108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loyalty program to rip out — a greenfield build, done right once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6191D"/>
          </a:solidFill>
          <a:ln w="12700">
            <a:solidFill>
              <a:srgbClr val="F267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a digital-first brand opens its 40th store, a loyalty program that can't unify online and in-store behavior stops being optional — </a:t>
            </a:r>
            <a:pPr indent="0" marL="0">
              <a:buNone/>
            </a:pPr>
            <a:r>
              <a:rPr lang="en-US" sz="19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becomes infrastructure.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this central gets decided once, and shapes member experience for the next 3–5 years.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store opened without a program leaks member value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658368" cy="658368"/>
          </a:xfrm>
          <a:prstGeom prst="ellipse">
            <a:avLst/>
          </a:prstGeom>
          <a:solidFill>
            <a:srgbClr val="252C35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222857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transactions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417320" y="24414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walk-in purchase at a new store books revenue but captures no member identity — it can't inform the next email, offer, or product decision.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658368" cy="658368"/>
          </a:xfrm>
          <a:prstGeom prst="ellipse">
            <a:avLst/>
          </a:prstGeom>
          <a:solidFill>
            <a:srgbClr val="252C35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360017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Untied customers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417320" y="3813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customer online and in-store looks like two people. Frequency, AOV lift, and cross-channel behavior go unmeasured.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800600"/>
            <a:ext cx="658368" cy="658368"/>
          </a:xfrm>
          <a:prstGeom prst="ellipse">
            <a:avLst/>
          </a:prstGeom>
          <a:solidFill>
            <a:srgbClr val="252C35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497177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782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 leakage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417320" y="51846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grows with every location opened. The ROI of moving early is mostly leakage avoided — not features gained.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49440" y="2057400"/>
            <a:ext cx="4663440" cy="3977640"/>
          </a:xfrm>
          <a:prstGeom prst="roundRect">
            <a:avLst>
              <a:gd name="adj" fmla="val 2299"/>
            </a:avLst>
          </a:prstGeom>
          <a:solidFill>
            <a:srgbClr val="1E242B"/>
          </a:solidFill>
          <a:ln/>
        </p:spPr>
      </p:sp>
      <p:sp>
        <p:nvSpPr>
          <p:cNvPr id="22" name="Text 16"/>
          <p:cNvSpPr/>
          <p:nvPr/>
        </p:nvSpPr>
        <p:spPr>
          <a:xfrm>
            <a:off x="726948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UN-CAPTURED MEMBER VALUE GROWS WITH EACH STORE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60920" y="4983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A424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83880" y="4663440"/>
            <a:ext cx="566928" cy="777240"/>
          </a:xfrm>
          <a:prstGeom prst="roundRect">
            <a:avLst>
              <a:gd name="adj" fmla="val 8065"/>
            </a:avLst>
          </a:prstGeom>
          <a:solidFill>
            <a:srgbClr val="252C35"/>
          </a:solidFill>
          <a:ln w="9525">
            <a:solidFill>
              <a:srgbClr val="3A42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06840" y="4297680"/>
            <a:ext cx="566928" cy="1143000"/>
          </a:xfrm>
          <a:prstGeom prst="roundRect">
            <a:avLst>
              <a:gd name="adj" fmla="val 8065"/>
            </a:avLst>
          </a:prstGeom>
          <a:solidFill>
            <a:srgbClr val="252C35"/>
          </a:solidFill>
          <a:ln w="9525">
            <a:solidFill>
              <a:srgbClr val="3A424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829800" y="3886200"/>
            <a:ext cx="566928" cy="1554480"/>
          </a:xfrm>
          <a:prstGeom prst="roundRect">
            <a:avLst>
              <a:gd name="adj" fmla="val 8065"/>
            </a:avLst>
          </a:prstGeom>
          <a:solidFill>
            <a:srgbClr val="252C35"/>
          </a:solidFill>
          <a:ln w="9525">
            <a:solidFill>
              <a:srgbClr val="3A424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652760" y="3429000"/>
            <a:ext cx="566928" cy="2011680"/>
          </a:xfrm>
          <a:prstGeom prst="roundRect">
            <a:avLst>
              <a:gd name="adj" fmla="val 8065"/>
            </a:avLst>
          </a:prstGeom>
          <a:solidFill>
            <a:srgbClr val="F26722"/>
          </a:solidFill>
          <a:ln w="9525">
            <a:solidFill>
              <a:srgbClr val="F2672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315200" y="5532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over time  →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an architecture decision, not an app decision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134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4608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295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member ledger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22960" y="280720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points-and-identity ledger spanning every store's POS, vuoriclothing.com, and the app — no channel silos, ever.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0574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23134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41" y="24608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42048" y="2295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Premium, not points-spam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92240" y="280720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tiered, experiential program that fits a premium brand — recognition, access, and experiences, not discount noise.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51823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Store-performance infrastructure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22960" y="486460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Clienteling, in-store member recognition, and cross-channel attribution that make each new store perform.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25" name="Shape 19"/>
          <p:cNvSpPr/>
          <p:nvPr/>
        </p:nvSpPr>
        <p:spPr>
          <a:xfrm>
            <a:off x="6492240" y="43708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641" y="451823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right from day one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6492240" y="486460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means no migration and no politics — and no excuse for an architecture that caps out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MY LOYALTY DELIVERS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partner — the blueprint and the operation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1E242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31720"/>
            <a:ext cx="658368" cy="65836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05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2960" y="363931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strategy built with your team: earn/burn economics, premium tiers, experiential rewards, and the member journey across store, site, and app.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3400" y="205740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F26722"/>
          </a:solidFill>
          <a:ln/>
        </p:spPr>
      </p:sp>
      <p:sp>
        <p:nvSpPr>
          <p:cNvPr id="15" name="Shape 11"/>
          <p:cNvSpPr/>
          <p:nvPr/>
        </p:nvSpPr>
        <p:spPr>
          <a:xfrm>
            <a:off x="4617720" y="233172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5054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617720" y="363931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loyalty engine, fully integrated: every store's POS, your e-commerce stack, email/SMS, and a branded member portal and app experience.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38160" y="205740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1E242B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0" y="2331720"/>
            <a:ext cx="658368" cy="65836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25054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412480" y="363931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program management: campaigns, member marketing, analytics, fraud controls, and support — with one accountable partner on a multi-year contract.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6191D"/>
          </a:solidFill>
          <a:ln w="12700">
            <a:solidFill>
              <a:srgbClr val="F2672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8338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program, not a software license.  </a:t>
            </a:r>
            <a:pPr indent="0" marL="0"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technology, integrations, and operations — one contract, one accountable team.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member ledger, three surfaces, every channel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23360" y="32918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26722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3456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MEMBER LEDGER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points · tiers · offers · attribution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1965960"/>
            <a:ext cx="3246120" cy="1005840"/>
          </a:xfrm>
          <a:prstGeom prst="roundRect">
            <a:avLst>
              <a:gd name="adj" fmla="val 8182"/>
            </a:avLst>
          </a:prstGeom>
          <a:solidFill>
            <a:srgbClr val="1E24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12140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44752" y="20482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store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024128" y="23957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POS-integrated earn &amp; redeem, member recognition, clienteling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446020" y="297180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965960"/>
            <a:ext cx="3246120" cy="1005840"/>
          </a:xfrm>
          <a:prstGeom prst="roundRect">
            <a:avLst>
              <a:gd name="adj" fmla="val 8182"/>
            </a:avLst>
          </a:prstGeom>
          <a:solidFill>
            <a:srgbClr val="1E24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1214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02352" y="20482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+ portal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681728" y="23957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member portal: balance, tiers, rewards, ways to earn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03620" y="297180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38160" y="1965960"/>
            <a:ext cx="3246120" cy="1005840"/>
          </a:xfrm>
          <a:prstGeom prst="roundRect">
            <a:avLst>
              <a:gd name="adj" fmla="val 8182"/>
            </a:avLst>
          </a:prstGeom>
          <a:solidFill>
            <a:srgbClr val="1E24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12140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59952" y="20482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39328" y="23957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vuoriclothing.com checkout, email/SMS, campaigns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761220" y="297180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446020" y="466344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22960" y="4983480"/>
            <a:ext cx="3246120" cy="1097280"/>
          </a:xfrm>
          <a:prstGeom prst="roundRect">
            <a:avLst>
              <a:gd name="adj" fmla="val 7500"/>
            </a:avLst>
          </a:prstGeom>
          <a:solidFill>
            <a:srgbClr val="1E242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138928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44752" y="5065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loyalty engine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024128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rules, tiers, campaigns — proven at global-brand scale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03620" y="466344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480560" y="4983480"/>
            <a:ext cx="3246120" cy="1097280"/>
          </a:xfrm>
          <a:prstGeom prst="roundRect">
            <a:avLst>
              <a:gd name="adj" fmla="val 7500"/>
            </a:avLst>
          </a:prstGeom>
          <a:solidFill>
            <a:srgbClr val="1E242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5138928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02352" y="5065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Card-linked earning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681728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members earn on linked cards even where integration lags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9761220" y="4663440"/>
            <a:ext cx="0" cy="32004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138160" y="4983480"/>
            <a:ext cx="3246120" cy="1097280"/>
          </a:xfrm>
          <a:prstGeom prst="roundRect">
            <a:avLst>
              <a:gd name="adj" fmla="val 7500"/>
            </a:avLst>
          </a:prstGeom>
          <a:solidFill>
            <a:srgbClr val="1E242B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28" y="5138928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759952" y="5065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attribution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8339328" y="54406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vs. non-member AOV, frequency, and store-vs-online views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TO REACT TO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Vuori program could feel like (illustrative)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2761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JOIN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on every purchase, online or in store · birthday reward · member-only drops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20574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17720" y="2761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TIER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17720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earning · early access to new releases · free expedited shipping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205740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6191D"/>
          </a:solidFill>
          <a:ln w="19050">
            <a:solidFill>
              <a:srgbClr val="F267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Summit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12480" y="2761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12480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rewards: events, classes, community access · concierge service · surprise gifting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names, thresholds, and rewards are placeholders — the real program is designed with your team in the scoping phase, priced against your member economics.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E242B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6052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 reward with access and experience, not discounts. The program should feel like Vuori — earned, effortless, and worth talking about.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Framed in member economics, not features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05740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94944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frequency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949440" y="2386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and member offers lift repeat-purchase rate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949440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AOV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49440" y="33467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consistently out-spend non-members per order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94944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949440" y="4306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Store-vs-online visibility turns marketing spend into a measured system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949440" y="4937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949440" y="5266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driver — small lifts in repeat rate dominate over 5 years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validated with your numbers in scoping: active member base, frequency lift, member AOV delta, store/online mix — then this becomes a board-ready case.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MY LOYALTY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loyalty people, enterprise-grade delivery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134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4608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295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loyalty pedigree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22960" y="28072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founding team has spent 11+ years selling and delivering loyalty programs — 200+ systems placed across retail and multi-location brands.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0574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23134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41" y="24608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42048" y="2295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stack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92240" y="28072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run on proven enterprise loyalty infrastructure — the same class of engines behind global consumer brands — white-labeled and fully managed by us.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51823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dedicated program team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22960" y="4864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program strategists, integration engineers, and support staffed to your account — contractors and specialists added as your rollout scales.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42B"/>
          </a:solidFill>
          <a:ln/>
        </p:spPr>
      </p:sp>
      <p:sp>
        <p:nvSpPr>
          <p:cNvPr id="25" name="Shape 19"/>
          <p:cNvSpPr/>
          <p:nvPr/>
        </p:nvSpPr>
        <p:spPr>
          <a:xfrm>
            <a:off x="6492240" y="4370832"/>
            <a:ext cx="566928" cy="566928"/>
          </a:xfrm>
          <a:prstGeom prst="ellipse">
            <a:avLst/>
          </a:prstGeom>
          <a:solidFill>
            <a:srgbClr val="16191D"/>
          </a:solidFill>
          <a:ln w="15875">
            <a:solidFill>
              <a:srgbClr val="F2672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641" y="451823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accountable partner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6492240" y="4864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software, integrations, and operations under one contract. When something needs fixing, you make one call.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42351" cy="342351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10" y="388510"/>
            <a:ext cx="205411" cy="20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19" y="320040"/>
            <a:ext cx="1711757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4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224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224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scoping to live, timed to your store rollout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× Vuori  ·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450592"/>
            <a:ext cx="512064" cy="512064"/>
          </a:xfrm>
          <a:prstGeom prst="ellipse">
            <a:avLst/>
          </a:prstGeom>
          <a:solidFill>
            <a:srgbClr val="F26722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4672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workshop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04672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4672" y="4023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economics, program goals, tech-stack audit; outputs a priced blueprint and business case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3840480"/>
            <a:ext cx="182880" cy="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0" y="2450592"/>
            <a:ext cx="512064" cy="512064"/>
          </a:xfrm>
          <a:prstGeom prst="ellipse">
            <a:avLst/>
          </a:prstGeom>
          <a:solidFill>
            <a:srgbClr val="F26722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639312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design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3639312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39312" y="4023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Earn/burn model, tiers, rewards, brand &amp; member experience — designed with your team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3840480"/>
            <a:ext cx="182880" cy="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24" name="Shape 21"/>
          <p:cNvSpPr/>
          <p:nvPr/>
        </p:nvSpPr>
        <p:spPr>
          <a:xfrm>
            <a:off x="6492240" y="2450592"/>
            <a:ext cx="512064" cy="512064"/>
          </a:xfrm>
          <a:prstGeom prst="ellipse">
            <a:avLst/>
          </a:prstGeom>
          <a:solidFill>
            <a:srgbClr val="F26722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473952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integrate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473952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73952" y="4023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configuration, POS + e-commerce + ESP integrations, member portal and app surfaces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869680" y="3840480"/>
            <a:ext cx="182880" cy="0"/>
          </a:xfrm>
          <a:prstGeom prst="line">
            <a:avLst/>
          </a:prstGeom>
          <a:noFill/>
          <a:ln w="19050">
            <a:solidFill>
              <a:srgbClr val="F267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5256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E242B"/>
          </a:solidFill>
          <a:ln/>
        </p:spPr>
      </p:sp>
      <p:sp>
        <p:nvSpPr>
          <p:cNvPr id="31" name="Shape 28"/>
          <p:cNvSpPr/>
          <p:nvPr/>
        </p:nvSpPr>
        <p:spPr>
          <a:xfrm>
            <a:off x="9326880" y="2450592"/>
            <a:ext cx="512064" cy="512064"/>
          </a:xfrm>
          <a:prstGeom prst="ellipse">
            <a:avLst/>
          </a:prstGeom>
          <a:solidFill>
            <a:srgbClr val="F26722"/>
          </a:solidFill>
          <a:ln/>
        </p:spPr>
      </p:sp>
      <p:sp>
        <p:nvSpPr>
          <p:cNvPr id="32" name="Text 29"/>
          <p:cNvSpPr/>
          <p:nvPr/>
        </p:nvSpPr>
        <p:spPr>
          <a:xfrm>
            <a:off x="932688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308592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then scale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9308592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308592" y="4023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pilot stores + online, tune, then roll to the full fleet as new stores open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matter: a program decided this year is live before the next wave of store openings — every store after that opens with the ledger already running.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566160"/>
            <a:ext cx="6400800" cy="6400800"/>
          </a:xfrm>
          <a:prstGeom prst="ellipse">
            <a:avLst/>
          </a:prstGeom>
          <a:solidFill>
            <a:srgbClr val="16191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267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735178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40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</a:t>
            </a:r>
            <a:pPr indent="0" marL="0">
              <a:buNone/>
            </a:pPr>
            <a:r>
              <a:rPr lang="en-US" sz="1700" b="1" spc="100" kern="0" dirty="0">
                <a:solidFill>
                  <a:srgbClr val="F26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right, once.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a scoping workshop</a:t>
            </a:r>
            <a:pPr indent="0" marL="0">
              <a:buNone/>
            </a:pPr>
            <a:r>
              <a:rPr lang="en-US" sz="17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hours with your digital, retail, and technology leads. You leave with a priced blueprint and a board-ready business case, whatever you decide to do with it.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079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obligation — the blueprint is yours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109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and priced inside 3 weeks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1383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to your store-opening calendar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[last name]  ·  My Loyalty, a Better Business Partners company  ·  [phone]  ·  [email]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2026-08-13T11:20:06Z</dcterms:created>
  <dcterms:modified xsi:type="dcterms:W3CDTF">2026-08-13T11:20:06Z</dcterms:modified>
</cp:coreProperties>
</file>